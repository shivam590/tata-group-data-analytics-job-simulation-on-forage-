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</p:sldIdLst>
  <p:sldSz cx="18288000" cy="10287000"/>
  <p:notesSz cx="6858000" cy="9144000"/>
  <p:embeddedFontLst>
    <p:embeddedFont>
      <p:font typeface="Prata" charset="1" panose="00000500000000000000"/>
      <p:regular r:id="rId12"/>
    </p:embeddedFont>
    <p:embeddedFont>
      <p:font typeface="Raleway" charset="1" panose="020B0503030101060003"/>
      <p:regular r:id="rId13"/>
    </p:embeddedFont>
    <p:embeddedFont>
      <p:font typeface="Raleway Bold" charset="1" panose="020B0803030101060003"/>
      <p:regular r:id="rId14"/>
    </p:embeddedFont>
    <p:embeddedFont>
      <p:font typeface="Canva Sans" charset="1" panose="020B0503030501040103"/>
      <p:regular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fonts/font12.fntdata" Type="http://schemas.openxmlformats.org/officeDocument/2006/relationships/font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bg>
      <p:bgPr>
        <a:solidFill>
          <a:srgbClr val="DAD7C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776554" y="1247775"/>
            <a:ext cx="12734892" cy="4413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400"/>
              </a:lnSpc>
            </a:pPr>
            <a:r>
              <a:rPr lang="en-US" sz="11400">
                <a:solidFill>
                  <a:srgbClr val="344E41"/>
                </a:solidFill>
                <a:latin typeface="Prata"/>
                <a:ea typeface="Prata"/>
                <a:cs typeface="Prata"/>
                <a:sym typeface="Prata"/>
              </a:rPr>
              <a:t>AI-POWERED COLLECTIONS STRATEGY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0" y="9258300"/>
            <a:ext cx="18288000" cy="1028700"/>
            <a:chOff x="0" y="0"/>
            <a:chExt cx="12372622" cy="69596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2372622" cy="695960"/>
            </a:xfrm>
            <a:custGeom>
              <a:avLst/>
              <a:gdLst/>
              <a:ahLst/>
              <a:cxnLst/>
              <a:rect r="r" b="b" t="t" l="l"/>
              <a:pathLst>
                <a:path h="695960" w="12372622">
                  <a:moveTo>
                    <a:pt x="0" y="0"/>
                  </a:moveTo>
                  <a:lnTo>
                    <a:pt x="12372622" y="0"/>
                  </a:lnTo>
                  <a:lnTo>
                    <a:pt x="12372622" y="695960"/>
                  </a:lnTo>
                  <a:lnTo>
                    <a:pt x="0" y="695960"/>
                  </a:lnTo>
                  <a:close/>
                </a:path>
              </a:pathLst>
            </a:custGeom>
            <a:solidFill>
              <a:srgbClr val="A3B18A"/>
            </a:solidFill>
          </p:spPr>
        </p:sp>
      </p:grpSp>
      <p:sp>
        <p:nvSpPr>
          <p:cNvPr name="TextBox 5" id="5"/>
          <p:cNvSpPr txBox="true"/>
          <p:nvPr/>
        </p:nvSpPr>
        <p:spPr>
          <a:xfrm rot="0">
            <a:off x="2776554" y="6283643"/>
            <a:ext cx="12734892" cy="2266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00"/>
              </a:lnSpc>
            </a:pPr>
            <a:r>
              <a:rPr lang="en-US" sz="4000">
                <a:solidFill>
                  <a:srgbClr val="344E41"/>
                </a:solidFill>
                <a:latin typeface="Raleway"/>
                <a:ea typeface="Raleway"/>
                <a:cs typeface="Raleway"/>
                <a:sym typeface="Raleway"/>
              </a:rPr>
              <a:t>LEVERAGING AGENTIC AI FOR SCALABLE, FAIR, AND EFFECTIVE DEBT MANAGEMENT AT GELDIUM</a:t>
            </a:r>
          </a:p>
          <a:p>
            <a:pPr algn="ctr">
              <a:lnSpc>
                <a:spcPts val="7000"/>
              </a:lnSpc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13015349" y="9536430"/>
            <a:ext cx="5913783" cy="415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400">
                <a:solidFill>
                  <a:srgbClr val="344E41"/>
                </a:solidFill>
                <a:latin typeface="Raleway"/>
                <a:ea typeface="Raleway"/>
                <a:cs typeface="Raleway"/>
                <a:sym typeface="Raleway"/>
              </a:rPr>
              <a:t>Shivam Bansal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9510857"/>
            <a:ext cx="2956891" cy="415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344E41"/>
                </a:solidFill>
                <a:latin typeface="Raleway"/>
                <a:ea typeface="Raleway"/>
                <a:cs typeface="Raleway"/>
                <a:sym typeface="Raleway"/>
              </a:rPr>
              <a:t>2025 November 3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AD7C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258300"/>
            <a:ext cx="18288000" cy="1028700"/>
            <a:chOff x="0" y="0"/>
            <a:chExt cx="12372622" cy="69596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372622" cy="695960"/>
            </a:xfrm>
            <a:custGeom>
              <a:avLst/>
              <a:gdLst/>
              <a:ahLst/>
              <a:cxnLst/>
              <a:rect r="r" b="b" t="t" l="l"/>
              <a:pathLst>
                <a:path h="695960" w="12372622">
                  <a:moveTo>
                    <a:pt x="0" y="0"/>
                  </a:moveTo>
                  <a:lnTo>
                    <a:pt x="12372622" y="0"/>
                  </a:lnTo>
                  <a:lnTo>
                    <a:pt x="12372622" y="695960"/>
                  </a:lnTo>
                  <a:lnTo>
                    <a:pt x="0" y="695960"/>
                  </a:lnTo>
                  <a:close/>
                </a:path>
              </a:pathLst>
            </a:custGeom>
            <a:solidFill>
              <a:srgbClr val="A3B18A"/>
            </a:solid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11605927" y="0"/>
            <a:ext cx="6682073" cy="9258300"/>
          </a:xfrm>
          <a:custGeom>
            <a:avLst/>
            <a:gdLst/>
            <a:ahLst/>
            <a:cxnLst/>
            <a:rect r="r" b="b" t="t" l="l"/>
            <a:pathLst>
              <a:path h="9258300" w="6682073">
                <a:moveTo>
                  <a:pt x="0" y="0"/>
                </a:moveTo>
                <a:lnTo>
                  <a:pt x="6682073" y="0"/>
                </a:lnTo>
                <a:lnTo>
                  <a:pt x="6682073" y="9258300"/>
                </a:lnTo>
                <a:lnTo>
                  <a:pt x="0" y="92583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63800" t="-8335" r="-61354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28700" y="933450"/>
            <a:ext cx="6919931" cy="16687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19"/>
              </a:lnSpc>
            </a:pPr>
            <a:r>
              <a:rPr lang="en-US" sz="4800">
                <a:solidFill>
                  <a:srgbClr val="344E41"/>
                </a:solidFill>
                <a:latin typeface="Prata"/>
                <a:ea typeface="Prata"/>
                <a:cs typeface="Prata"/>
                <a:sym typeface="Prata"/>
              </a:rPr>
              <a:t> HOW THE SYSTEM WORKS (OVERVIEW)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2983230"/>
            <a:ext cx="7338945" cy="54844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700"/>
              </a:lnSpc>
            </a:pPr>
            <a:r>
              <a:rPr lang="en-US" sz="1800">
                <a:solidFill>
                  <a:srgbClr val="344E41"/>
                </a:solidFill>
                <a:latin typeface="Raleway"/>
                <a:ea typeface="Raleway"/>
                <a:cs typeface="Raleway"/>
                <a:sym typeface="Raleway"/>
              </a:rPr>
              <a:t>1. Data Input:</a:t>
            </a:r>
          </a:p>
          <a:p>
            <a:pPr algn="just" marL="388620" indent="-194310" lvl="1">
              <a:lnSpc>
                <a:spcPts val="2700"/>
              </a:lnSpc>
              <a:buFont typeface="Arial"/>
              <a:buChar char="•"/>
            </a:pPr>
            <a:r>
              <a:rPr lang="en-US" sz="1800">
                <a:solidFill>
                  <a:srgbClr val="344E41"/>
                </a:solidFill>
                <a:latin typeface="Raleway"/>
                <a:ea typeface="Raleway"/>
                <a:cs typeface="Raleway"/>
                <a:sym typeface="Raleway"/>
              </a:rPr>
              <a:t>Customer transaction history, repayment patterns, demographics, c</a:t>
            </a:r>
            <a:r>
              <a:rPr lang="en-US" sz="1800">
                <a:solidFill>
                  <a:srgbClr val="344E41"/>
                </a:solidFill>
                <a:latin typeface="Raleway"/>
                <a:ea typeface="Raleway"/>
                <a:cs typeface="Raleway"/>
                <a:sym typeface="Raleway"/>
              </a:rPr>
              <a:t>ommunication logs, credit behavior</a:t>
            </a:r>
          </a:p>
          <a:p>
            <a:pPr algn="just" marL="388620" indent="-194310" lvl="1">
              <a:lnSpc>
                <a:spcPts val="2700"/>
              </a:lnSpc>
              <a:buFont typeface="Arial"/>
              <a:buChar char="•"/>
            </a:pPr>
            <a:r>
              <a:rPr lang="en-US" sz="1800">
                <a:solidFill>
                  <a:srgbClr val="344E41"/>
                </a:solidFill>
                <a:latin typeface="Raleway"/>
                <a:ea typeface="Raleway"/>
                <a:cs typeface="Raleway"/>
                <a:sym typeface="Raleway"/>
              </a:rPr>
              <a:t>External credit scores and macroeconomic indicators</a:t>
            </a:r>
          </a:p>
          <a:p>
            <a:pPr algn="just">
              <a:lnSpc>
                <a:spcPts val="2700"/>
              </a:lnSpc>
            </a:pPr>
            <a:r>
              <a:rPr lang="en-US" sz="1800">
                <a:solidFill>
                  <a:srgbClr val="344E41"/>
                </a:solidFill>
                <a:latin typeface="Raleway"/>
                <a:ea typeface="Raleway"/>
                <a:cs typeface="Raleway"/>
                <a:sym typeface="Raleway"/>
              </a:rPr>
              <a:t>2. Predictive Decision Logic:</a:t>
            </a:r>
          </a:p>
          <a:p>
            <a:pPr algn="just" marL="388620" indent="-194310" lvl="1">
              <a:lnSpc>
                <a:spcPts val="2700"/>
              </a:lnSpc>
              <a:buFont typeface="Arial"/>
              <a:buChar char="•"/>
            </a:pPr>
            <a:r>
              <a:rPr lang="en-US" sz="1800">
                <a:solidFill>
                  <a:srgbClr val="344E41"/>
                </a:solidFill>
                <a:latin typeface="Raleway"/>
                <a:ea typeface="Raleway"/>
                <a:cs typeface="Raleway"/>
                <a:sym typeface="Raleway"/>
              </a:rPr>
              <a:t>Machine Learning model predicts delinquency probability</a:t>
            </a:r>
          </a:p>
          <a:p>
            <a:pPr algn="just" marL="388620" indent="-194310" lvl="1">
              <a:lnSpc>
                <a:spcPts val="2700"/>
              </a:lnSpc>
              <a:buFont typeface="Arial"/>
              <a:buChar char="•"/>
            </a:pPr>
            <a:r>
              <a:rPr lang="en-US" sz="1800">
                <a:solidFill>
                  <a:srgbClr val="344E41"/>
                </a:solidFill>
                <a:latin typeface="Raleway"/>
                <a:ea typeface="Raleway"/>
                <a:cs typeface="Raleway"/>
                <a:sym typeface="Raleway"/>
              </a:rPr>
              <a:t>Segments customers by risk tiers: Low, Medium, High</a:t>
            </a:r>
          </a:p>
          <a:p>
            <a:pPr algn="just" marL="388620" indent="-194310" lvl="1">
              <a:lnSpc>
                <a:spcPts val="2700"/>
              </a:lnSpc>
              <a:buFont typeface="Arial"/>
              <a:buChar char="•"/>
            </a:pPr>
            <a:r>
              <a:rPr lang="en-US" sz="1800">
                <a:solidFill>
                  <a:srgbClr val="344E41"/>
                </a:solidFill>
                <a:latin typeface="Raleway"/>
                <a:ea typeface="Raleway"/>
                <a:cs typeface="Raleway"/>
                <a:sym typeface="Raleway"/>
              </a:rPr>
              <a:t>Triggers tailored collection strategies</a:t>
            </a:r>
          </a:p>
          <a:p>
            <a:pPr algn="just">
              <a:lnSpc>
                <a:spcPts val="2700"/>
              </a:lnSpc>
            </a:pPr>
            <a:r>
              <a:rPr lang="en-US" sz="1800">
                <a:solidFill>
                  <a:srgbClr val="344E41"/>
                </a:solidFill>
                <a:latin typeface="Raleway"/>
                <a:ea typeface="Raleway"/>
                <a:cs typeface="Raleway"/>
                <a:sym typeface="Raleway"/>
              </a:rPr>
              <a:t>3. Automated Actions:</a:t>
            </a:r>
          </a:p>
          <a:p>
            <a:pPr algn="just" marL="388620" indent="-194310" lvl="1">
              <a:lnSpc>
                <a:spcPts val="2700"/>
              </a:lnSpc>
              <a:buFont typeface="Arial"/>
              <a:buChar char="•"/>
            </a:pPr>
            <a:r>
              <a:rPr lang="en-US" sz="1800">
                <a:solidFill>
                  <a:srgbClr val="344E41"/>
                </a:solidFill>
                <a:latin typeface="Raleway"/>
                <a:ea typeface="Raleway"/>
                <a:cs typeface="Raleway"/>
                <a:sym typeface="Raleway"/>
              </a:rPr>
              <a:t>Personalized messages, reminders, and restructuring offers</a:t>
            </a:r>
          </a:p>
          <a:p>
            <a:pPr algn="just" marL="388620" indent="-194310" lvl="1">
              <a:lnSpc>
                <a:spcPts val="2700"/>
              </a:lnSpc>
              <a:buFont typeface="Arial"/>
              <a:buChar char="•"/>
            </a:pPr>
            <a:r>
              <a:rPr lang="en-US" sz="1800">
                <a:solidFill>
                  <a:srgbClr val="344E41"/>
                </a:solidFill>
                <a:latin typeface="Raleway"/>
                <a:ea typeface="Raleway"/>
                <a:cs typeface="Raleway"/>
                <a:sym typeface="Raleway"/>
              </a:rPr>
              <a:t>Dynamic communication through preferred customer channels</a:t>
            </a:r>
          </a:p>
          <a:p>
            <a:pPr algn="just" marL="388620" indent="-194310" lvl="1">
              <a:lnSpc>
                <a:spcPts val="2700"/>
              </a:lnSpc>
              <a:buFont typeface="Arial"/>
              <a:buChar char="•"/>
            </a:pPr>
            <a:r>
              <a:rPr lang="en-US" sz="1800">
                <a:solidFill>
                  <a:srgbClr val="344E41"/>
                </a:solidFill>
                <a:latin typeface="Raleway"/>
                <a:ea typeface="Raleway"/>
                <a:cs typeface="Raleway"/>
                <a:sym typeface="Raleway"/>
              </a:rPr>
              <a:t>Escalation to human agents for complex or sensitive cases</a:t>
            </a:r>
          </a:p>
          <a:p>
            <a:pPr algn="just">
              <a:lnSpc>
                <a:spcPts val="2700"/>
              </a:lnSpc>
            </a:pPr>
            <a:r>
              <a:rPr lang="en-US" sz="1800">
                <a:solidFill>
                  <a:srgbClr val="344E41"/>
                </a:solidFill>
                <a:latin typeface="Raleway"/>
                <a:ea typeface="Raleway"/>
                <a:cs typeface="Raleway"/>
                <a:sym typeface="Raleway"/>
              </a:rPr>
              <a:t>4. Learning Loop:</a:t>
            </a:r>
          </a:p>
          <a:p>
            <a:pPr algn="just" marL="388620" indent="-194310" lvl="1">
              <a:lnSpc>
                <a:spcPts val="2700"/>
              </a:lnSpc>
              <a:buFont typeface="Arial"/>
              <a:buChar char="•"/>
            </a:pPr>
            <a:r>
              <a:rPr lang="en-US" sz="1800">
                <a:solidFill>
                  <a:srgbClr val="344E41"/>
                </a:solidFill>
                <a:latin typeface="Raleway"/>
                <a:ea typeface="Raleway"/>
                <a:cs typeface="Raleway"/>
                <a:sym typeface="Raleway"/>
              </a:rPr>
              <a:t>System tracks outcomes → feedback used to retrain model</a:t>
            </a:r>
          </a:p>
          <a:p>
            <a:pPr algn="just" marL="388620" indent="-194310" lvl="1">
              <a:lnSpc>
                <a:spcPts val="2700"/>
              </a:lnSpc>
              <a:buFont typeface="Arial"/>
              <a:buChar char="•"/>
            </a:pPr>
            <a:r>
              <a:rPr lang="en-US" sz="1800">
                <a:solidFill>
                  <a:srgbClr val="344E41"/>
                </a:solidFill>
                <a:latin typeface="Raleway"/>
                <a:ea typeface="Raleway"/>
                <a:cs typeface="Raleway"/>
                <a:sym typeface="Raleway"/>
              </a:rPr>
              <a:t>Improves accuracy, fairness, and effectiveness over time</a:t>
            </a:r>
          </a:p>
          <a:p>
            <a:pPr algn="just">
              <a:lnSpc>
                <a:spcPts val="2700"/>
              </a:lnSpc>
            </a:pP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DAD7C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933450"/>
            <a:ext cx="3971437" cy="16687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19"/>
              </a:lnSpc>
            </a:pPr>
            <a:r>
              <a:rPr lang="en-US" sz="4800">
                <a:solidFill>
                  <a:srgbClr val="344E41"/>
                </a:solidFill>
                <a:latin typeface="Prata"/>
                <a:ea typeface="Prata"/>
                <a:cs typeface="Prata"/>
                <a:sym typeface="Prata"/>
              </a:rPr>
              <a:t>ROLE OF AGENTIC AI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0" y="9258300"/>
            <a:ext cx="18288000" cy="1028700"/>
            <a:chOff x="0" y="0"/>
            <a:chExt cx="12372622" cy="69596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2372622" cy="695960"/>
            </a:xfrm>
            <a:custGeom>
              <a:avLst/>
              <a:gdLst/>
              <a:ahLst/>
              <a:cxnLst/>
              <a:rect r="r" b="b" t="t" l="l"/>
              <a:pathLst>
                <a:path h="695960" w="12372622">
                  <a:moveTo>
                    <a:pt x="0" y="0"/>
                  </a:moveTo>
                  <a:lnTo>
                    <a:pt x="12372622" y="0"/>
                  </a:lnTo>
                  <a:lnTo>
                    <a:pt x="12372622" y="695960"/>
                  </a:lnTo>
                  <a:lnTo>
                    <a:pt x="0" y="695960"/>
                  </a:lnTo>
                  <a:close/>
                </a:path>
              </a:pathLst>
            </a:custGeom>
            <a:solidFill>
              <a:srgbClr val="A3B18A"/>
            </a:solidFill>
          </p:spPr>
        </p:sp>
      </p:grpSp>
      <p:sp>
        <p:nvSpPr>
          <p:cNvPr name="AutoShape 5" id="5"/>
          <p:cNvSpPr/>
          <p:nvPr/>
        </p:nvSpPr>
        <p:spPr>
          <a:xfrm flipH="true">
            <a:off x="11050012" y="1730402"/>
            <a:ext cx="0" cy="4382031"/>
          </a:xfrm>
          <a:prstGeom prst="line">
            <a:avLst/>
          </a:prstGeom>
          <a:ln cap="flat" w="9525">
            <a:solidFill>
              <a:srgbClr val="804F3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6" id="6"/>
          <p:cNvSpPr txBox="true"/>
          <p:nvPr/>
        </p:nvSpPr>
        <p:spPr>
          <a:xfrm rot="0">
            <a:off x="6167867" y="2178616"/>
            <a:ext cx="4343866" cy="415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b="true" sz="2400">
                <a:solidFill>
                  <a:srgbClr val="344E41"/>
                </a:solidFill>
                <a:latin typeface="Raleway Bold"/>
                <a:ea typeface="Raleway Bold"/>
                <a:cs typeface="Raleway Bold"/>
                <a:sym typeface="Raleway Bold"/>
              </a:rPr>
              <a:t>Autonomous (AI-led)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167867" y="2683192"/>
            <a:ext cx="4343866" cy="27984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388620" indent="-194310" lvl="1">
              <a:lnSpc>
                <a:spcPts val="4500"/>
              </a:lnSpc>
              <a:buFont typeface="Arial"/>
              <a:buChar char="•"/>
            </a:pPr>
            <a:r>
              <a:rPr lang="en-US" sz="1800">
                <a:solidFill>
                  <a:srgbClr val="344E41"/>
                </a:solidFill>
                <a:latin typeface="Raleway"/>
                <a:ea typeface="Raleway"/>
                <a:cs typeface="Raleway"/>
                <a:sym typeface="Raleway"/>
              </a:rPr>
              <a:t>Predicting default likelihood</a:t>
            </a:r>
          </a:p>
          <a:p>
            <a:pPr algn="ctr" marL="388620" indent="-194310" lvl="1">
              <a:lnSpc>
                <a:spcPts val="4500"/>
              </a:lnSpc>
              <a:buFont typeface="Arial"/>
              <a:buChar char="•"/>
            </a:pPr>
            <a:r>
              <a:rPr lang="en-US" sz="1800">
                <a:solidFill>
                  <a:srgbClr val="344E41"/>
                </a:solidFill>
                <a:latin typeface="Raleway"/>
                <a:ea typeface="Raleway"/>
                <a:cs typeface="Raleway"/>
                <a:sym typeface="Raleway"/>
              </a:rPr>
              <a:t>Sending personalized reminders</a:t>
            </a:r>
          </a:p>
          <a:p>
            <a:pPr algn="ctr" marL="388620" indent="-194310" lvl="1">
              <a:lnSpc>
                <a:spcPts val="4500"/>
              </a:lnSpc>
              <a:buFont typeface="Arial"/>
              <a:buChar char="•"/>
            </a:pPr>
            <a:r>
              <a:rPr lang="en-US" sz="1800">
                <a:solidFill>
                  <a:srgbClr val="344E41"/>
                </a:solidFill>
                <a:latin typeface="Raleway"/>
                <a:ea typeface="Raleway"/>
                <a:cs typeface="Raleway"/>
                <a:sym typeface="Raleway"/>
              </a:rPr>
              <a:t>Scheduling follow-up actions</a:t>
            </a:r>
          </a:p>
          <a:p>
            <a:pPr algn="ctr" marL="388620" indent="-194310" lvl="1">
              <a:lnSpc>
                <a:spcPts val="4500"/>
              </a:lnSpc>
              <a:buFont typeface="Arial"/>
              <a:buChar char="•"/>
            </a:pPr>
            <a:r>
              <a:rPr lang="en-US" sz="1800">
                <a:solidFill>
                  <a:srgbClr val="344E41"/>
                </a:solidFill>
                <a:latin typeface="Raleway"/>
                <a:ea typeface="Raleway"/>
                <a:cs typeface="Raleway"/>
                <a:sym typeface="Raleway"/>
              </a:rPr>
              <a:t>Updating risk tiers dynamically</a:t>
            </a:r>
          </a:p>
          <a:p>
            <a:pPr algn="ctr" marL="388620" indent="-194310" lvl="1">
              <a:lnSpc>
                <a:spcPts val="4500"/>
              </a:lnSpc>
              <a:buFont typeface="Arial"/>
              <a:buChar char="•"/>
            </a:pPr>
            <a:r>
              <a:rPr lang="en-US" sz="1800">
                <a:solidFill>
                  <a:srgbClr val="344E41"/>
                </a:solidFill>
                <a:latin typeface="Raleway"/>
                <a:ea typeface="Raleway"/>
                <a:cs typeface="Raleway"/>
                <a:sym typeface="Raleway"/>
              </a:rPr>
              <a:t>Monitoring repayment trends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1588175" y="2012881"/>
            <a:ext cx="4343866" cy="746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b="true" sz="2100">
                <a:solidFill>
                  <a:srgbClr val="344E41"/>
                </a:solidFill>
                <a:latin typeface="Raleway Bold"/>
                <a:ea typeface="Raleway Bold"/>
                <a:cs typeface="Raleway Bold"/>
                <a:sym typeface="Raleway Bold"/>
              </a:rPr>
              <a:t>Human Oversight (Analyst/Agent-led)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1505560" y="2683192"/>
            <a:ext cx="5172750" cy="27984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00"/>
              </a:lnSpc>
            </a:pPr>
            <a:r>
              <a:rPr lang="en-US" sz="1800">
                <a:solidFill>
                  <a:srgbClr val="344E41"/>
                </a:solidFill>
                <a:latin typeface="Raleway"/>
                <a:ea typeface="Raleway"/>
                <a:cs typeface="Raleway"/>
                <a:sym typeface="Raleway"/>
              </a:rPr>
              <a:t>Approving or modifying repayment plans</a:t>
            </a:r>
          </a:p>
          <a:p>
            <a:pPr algn="ctr">
              <a:lnSpc>
                <a:spcPts val="4500"/>
              </a:lnSpc>
            </a:pPr>
            <a:r>
              <a:rPr lang="en-US" sz="1800">
                <a:solidFill>
                  <a:srgbClr val="344E41"/>
                </a:solidFill>
                <a:latin typeface="Raleway"/>
                <a:ea typeface="Raleway"/>
                <a:cs typeface="Raleway"/>
                <a:sym typeface="Raleway"/>
              </a:rPr>
              <a:t>Handling escalated or disputed cases</a:t>
            </a:r>
          </a:p>
          <a:p>
            <a:pPr algn="ctr">
              <a:lnSpc>
                <a:spcPts val="4500"/>
              </a:lnSpc>
            </a:pPr>
            <a:r>
              <a:rPr lang="en-US" sz="1800">
                <a:solidFill>
                  <a:srgbClr val="344E41"/>
                </a:solidFill>
                <a:latin typeface="Raleway"/>
                <a:ea typeface="Raleway"/>
                <a:cs typeface="Raleway"/>
                <a:sym typeface="Raleway"/>
              </a:rPr>
              <a:t>Reviewing flagged edge cases</a:t>
            </a:r>
          </a:p>
          <a:p>
            <a:pPr algn="ctr">
              <a:lnSpc>
                <a:spcPts val="4500"/>
              </a:lnSpc>
            </a:pPr>
            <a:r>
              <a:rPr lang="en-US" sz="1800">
                <a:solidFill>
                  <a:srgbClr val="344E41"/>
                </a:solidFill>
                <a:latin typeface="Raleway"/>
                <a:ea typeface="Raleway"/>
                <a:cs typeface="Raleway"/>
                <a:sym typeface="Raleway"/>
              </a:rPr>
              <a:t>Ensuring compliance and fairness</a:t>
            </a:r>
          </a:p>
          <a:p>
            <a:pPr algn="ctr">
              <a:lnSpc>
                <a:spcPts val="4500"/>
              </a:lnSpc>
            </a:pPr>
            <a:r>
              <a:rPr lang="en-US" sz="1800">
                <a:solidFill>
                  <a:srgbClr val="344E41"/>
                </a:solidFill>
                <a:latin typeface="Raleway"/>
                <a:ea typeface="Raleway"/>
                <a:cs typeface="Raleway"/>
                <a:sym typeface="Raleway"/>
              </a:rPr>
              <a:t>Continuous supervision and audit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AD7C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258300"/>
            <a:ext cx="18288000" cy="1028700"/>
            <a:chOff x="0" y="0"/>
            <a:chExt cx="12372622" cy="69596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372622" cy="695960"/>
            </a:xfrm>
            <a:custGeom>
              <a:avLst/>
              <a:gdLst/>
              <a:ahLst/>
              <a:cxnLst/>
              <a:rect r="r" b="b" t="t" l="l"/>
              <a:pathLst>
                <a:path h="695960" w="12372622">
                  <a:moveTo>
                    <a:pt x="0" y="0"/>
                  </a:moveTo>
                  <a:lnTo>
                    <a:pt x="12372622" y="0"/>
                  </a:lnTo>
                  <a:lnTo>
                    <a:pt x="12372622" y="695960"/>
                  </a:lnTo>
                  <a:lnTo>
                    <a:pt x="0" y="695960"/>
                  </a:lnTo>
                  <a:close/>
                </a:path>
              </a:pathLst>
            </a:custGeom>
            <a:solidFill>
              <a:srgbClr val="A3B18A"/>
            </a:solid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12275500" y="19810"/>
            <a:ext cx="6012500" cy="9238490"/>
          </a:xfrm>
          <a:custGeom>
            <a:avLst/>
            <a:gdLst/>
            <a:ahLst/>
            <a:cxnLst/>
            <a:rect r="r" b="b" t="t" l="l"/>
            <a:pathLst>
              <a:path h="9238490" w="6012500">
                <a:moveTo>
                  <a:pt x="0" y="0"/>
                </a:moveTo>
                <a:lnTo>
                  <a:pt x="6012500" y="0"/>
                </a:lnTo>
                <a:lnTo>
                  <a:pt x="6012500" y="9238490"/>
                </a:lnTo>
                <a:lnTo>
                  <a:pt x="0" y="923849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0562" t="0" r="-43091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28700" y="832220"/>
            <a:ext cx="10203561" cy="8210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19"/>
              </a:lnSpc>
            </a:pPr>
            <a:r>
              <a:rPr lang="en-US" sz="4800">
                <a:solidFill>
                  <a:srgbClr val="344E41"/>
                </a:solidFill>
                <a:latin typeface="Prata"/>
                <a:ea typeface="Prata"/>
                <a:cs typeface="Prata"/>
                <a:sym typeface="Prata"/>
              </a:rPr>
              <a:t>RESPONSIBLE AI GUARDRAILS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7169" y="2801965"/>
            <a:ext cx="3701037" cy="834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 b="true">
                <a:solidFill>
                  <a:srgbClr val="344E41"/>
                </a:solidFill>
                <a:latin typeface="Raleway Bold"/>
                <a:ea typeface="Raleway Bold"/>
                <a:cs typeface="Raleway Bold"/>
                <a:sym typeface="Raleway Bold"/>
              </a:rPr>
              <a:t>Fairness &amp; Bias Mitigation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7169" y="3766723"/>
            <a:ext cx="3701037" cy="17125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1800">
                <a:solidFill>
                  <a:srgbClr val="344E41"/>
                </a:solidFill>
                <a:latin typeface="Raleway"/>
                <a:ea typeface="Raleway"/>
                <a:cs typeface="Raleway"/>
                <a:sym typeface="Raleway"/>
              </a:rPr>
              <a:t>Regular audits to detect demographic or behavioral bias</a:t>
            </a:r>
          </a:p>
          <a:p>
            <a:pPr algn="l">
              <a:lnSpc>
                <a:spcPts val="2700"/>
              </a:lnSpc>
            </a:pPr>
            <a:r>
              <a:rPr lang="en-US" sz="1800">
                <a:solidFill>
                  <a:srgbClr val="344E41"/>
                </a:solidFill>
                <a:latin typeface="Raleway"/>
                <a:ea typeface="Raleway"/>
                <a:cs typeface="Raleway"/>
                <a:sym typeface="Raleway"/>
              </a:rPr>
              <a:t>Use of explainable models (e.g., SHAP/LIME) for interpretability</a:t>
            </a:r>
          </a:p>
          <a:p>
            <a:pPr algn="l">
              <a:lnSpc>
                <a:spcPts val="2700"/>
              </a:lnSpc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1027169" y="5883717"/>
            <a:ext cx="3701037" cy="834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 b="true">
                <a:solidFill>
                  <a:srgbClr val="344E41"/>
                </a:solidFill>
                <a:latin typeface="Raleway Bold"/>
                <a:ea typeface="Raleway Bold"/>
                <a:cs typeface="Raleway Bold"/>
                <a:sym typeface="Raleway Bold"/>
              </a:rPr>
              <a:t>Explainability &amp; Transparency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6403" y="6848475"/>
            <a:ext cx="3701037" cy="1026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1800">
                <a:solidFill>
                  <a:srgbClr val="344E41"/>
                </a:solidFill>
                <a:latin typeface="Raleway"/>
                <a:ea typeface="Raleway"/>
                <a:cs typeface="Raleway"/>
                <a:sym typeface="Raleway"/>
              </a:rPr>
              <a:t>Every decision traceable — “why this action was taken” view for compliance teams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482105" y="5883717"/>
            <a:ext cx="3701037" cy="834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 b="true">
                <a:solidFill>
                  <a:srgbClr val="344E41"/>
                </a:solidFill>
                <a:latin typeface="Raleway Bold"/>
                <a:ea typeface="Raleway Bold"/>
                <a:cs typeface="Raleway Bold"/>
                <a:sym typeface="Raleway Bold"/>
              </a:rPr>
              <a:t>Human-in-the-Loop Governance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6482105" y="6848475"/>
            <a:ext cx="3701037" cy="1026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1800">
                <a:solidFill>
                  <a:srgbClr val="344E41"/>
                </a:solidFill>
                <a:latin typeface="Raleway"/>
                <a:ea typeface="Raleway"/>
                <a:cs typeface="Raleway"/>
                <a:sym typeface="Raleway"/>
              </a:rPr>
              <a:t>AI suggestions validated by human agents for sensitive outcomes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482105" y="2656108"/>
            <a:ext cx="3701037" cy="415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 b="true">
                <a:solidFill>
                  <a:srgbClr val="344E41"/>
                </a:solidFill>
                <a:latin typeface="Raleway Bold"/>
                <a:ea typeface="Raleway Bold"/>
                <a:cs typeface="Raleway Bold"/>
                <a:sym typeface="Raleway Bold"/>
              </a:rPr>
              <a:t>Regulatory Alignment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482105" y="3423823"/>
            <a:ext cx="3701037" cy="20554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1800">
                <a:solidFill>
                  <a:srgbClr val="344E41"/>
                </a:solidFill>
                <a:latin typeface="Raleway"/>
                <a:ea typeface="Raleway"/>
                <a:cs typeface="Raleway"/>
                <a:sym typeface="Raleway"/>
              </a:rPr>
              <a:t>Adheres to financial conduct regulations (e.g., RBI, GDPR-like data privacy)</a:t>
            </a:r>
          </a:p>
          <a:p>
            <a:pPr algn="l">
              <a:lnSpc>
                <a:spcPts val="2700"/>
              </a:lnSpc>
            </a:pPr>
            <a:r>
              <a:rPr lang="en-US" sz="1800">
                <a:solidFill>
                  <a:srgbClr val="344E41"/>
                </a:solidFill>
                <a:latin typeface="Raleway"/>
                <a:ea typeface="Raleway"/>
                <a:cs typeface="Raleway"/>
                <a:sym typeface="Raleway"/>
              </a:rPr>
              <a:t>Maintains full audit trail of data usage and decisions</a:t>
            </a:r>
          </a:p>
          <a:p>
            <a:pPr algn="l">
              <a:lnSpc>
                <a:spcPts val="2700"/>
              </a:lnSpc>
            </a:pP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>
      <p:bgPr>
        <a:solidFill>
          <a:srgbClr val="DAD7C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258300"/>
            <a:ext cx="18288000" cy="1028700"/>
            <a:chOff x="0" y="0"/>
            <a:chExt cx="12372622" cy="69596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372622" cy="695960"/>
            </a:xfrm>
            <a:custGeom>
              <a:avLst/>
              <a:gdLst/>
              <a:ahLst/>
              <a:cxnLst/>
              <a:rect r="r" b="b" t="t" l="l"/>
              <a:pathLst>
                <a:path h="695960" w="12372622">
                  <a:moveTo>
                    <a:pt x="0" y="0"/>
                  </a:moveTo>
                  <a:lnTo>
                    <a:pt x="12372622" y="0"/>
                  </a:lnTo>
                  <a:lnTo>
                    <a:pt x="12372622" y="695960"/>
                  </a:lnTo>
                  <a:lnTo>
                    <a:pt x="0" y="695960"/>
                  </a:lnTo>
                  <a:close/>
                </a:path>
              </a:pathLst>
            </a:custGeom>
            <a:solidFill>
              <a:srgbClr val="A3B18A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4202382" y="933450"/>
            <a:ext cx="9883236" cy="8210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19"/>
              </a:lnSpc>
            </a:pPr>
            <a:r>
              <a:rPr lang="en-US" sz="4800">
                <a:solidFill>
                  <a:srgbClr val="344E41"/>
                </a:solidFill>
                <a:latin typeface="Prata"/>
                <a:ea typeface="Prata"/>
                <a:cs typeface="Prata"/>
                <a:sym typeface="Prata"/>
              </a:rPr>
              <a:t>EXPECTED BUSINESS IMPACT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1028700" y="3806314"/>
            <a:ext cx="7030371" cy="2674371"/>
            <a:chOff x="0" y="0"/>
            <a:chExt cx="9373827" cy="3565828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0" y="-57150"/>
              <a:ext cx="5791821" cy="5346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359"/>
                </a:lnSpc>
              </a:pPr>
              <a:r>
                <a:rPr lang="en-US" b="true" sz="2400">
                  <a:solidFill>
                    <a:srgbClr val="344E41"/>
                  </a:solidFill>
                  <a:latin typeface="Raleway Bold"/>
                  <a:ea typeface="Raleway Bold"/>
                  <a:cs typeface="Raleway Bold"/>
                  <a:sym typeface="Raleway Bold"/>
                </a:rPr>
                <a:t>Quantitative (Business KPIs)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675943"/>
              <a:ext cx="9373827" cy="28898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388620" indent="-194310" lvl="1">
                <a:lnSpc>
                  <a:spcPts val="4500"/>
                </a:lnSpc>
                <a:buFont typeface="Arial"/>
                <a:buChar char="•"/>
              </a:pPr>
              <a:r>
                <a:rPr lang="en-US" sz="1800">
                  <a:solidFill>
                    <a:srgbClr val="344E41"/>
                  </a:solidFill>
                  <a:latin typeface="Raleway"/>
                  <a:ea typeface="Raleway"/>
                  <a:cs typeface="Raleway"/>
                  <a:sym typeface="Raleway"/>
                </a:rPr>
                <a:t>15–25% reduction in delinquency rates through early prediction</a:t>
              </a:r>
            </a:p>
            <a:p>
              <a:pPr algn="l" marL="388620" indent="-194310" lvl="1">
                <a:lnSpc>
                  <a:spcPts val="4500"/>
                </a:lnSpc>
                <a:buFont typeface="Arial"/>
                <a:buChar char="•"/>
              </a:pPr>
              <a:r>
                <a:rPr lang="en-US" sz="1800">
                  <a:solidFill>
                    <a:srgbClr val="344E41"/>
                  </a:solidFill>
                  <a:latin typeface="Raleway"/>
                  <a:ea typeface="Raleway"/>
                  <a:cs typeface="Raleway"/>
                  <a:sym typeface="Raleway"/>
                </a:rPr>
                <a:t>20–30% lower collection costs via automation</a:t>
              </a:r>
            </a:p>
            <a:p>
              <a:pPr algn="l" marL="388620" indent="-194310" lvl="1">
                <a:lnSpc>
                  <a:spcPts val="4500"/>
                </a:lnSpc>
                <a:buFont typeface="Arial"/>
                <a:buChar char="•"/>
              </a:pPr>
              <a:r>
                <a:rPr lang="en-US" sz="1800">
                  <a:solidFill>
                    <a:srgbClr val="344E41"/>
                  </a:solidFill>
                  <a:latin typeface="Raleway"/>
                  <a:ea typeface="Raleway"/>
                  <a:cs typeface="Raleway"/>
                  <a:sym typeface="Raleway"/>
                </a:rPr>
                <a:t>Faster resolution time with real-time insights</a:t>
              </a:r>
            </a:p>
            <a:p>
              <a:pPr algn="l" marL="388620" indent="-194310" lvl="1">
                <a:lnSpc>
                  <a:spcPts val="4500"/>
                </a:lnSpc>
                <a:buFont typeface="Arial"/>
                <a:buChar char="•"/>
              </a:pPr>
              <a:r>
                <a:rPr lang="en-US" sz="1800">
                  <a:solidFill>
                    <a:srgbClr val="344E41"/>
                  </a:solidFill>
                  <a:latin typeface="Raleway"/>
                  <a:ea typeface="Raleway"/>
                  <a:cs typeface="Raleway"/>
                  <a:sym typeface="Raleway"/>
                </a:rPr>
                <a:t>Higher recovery rates for mid-risk customers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0228929" y="3714874"/>
            <a:ext cx="7030371" cy="2857251"/>
            <a:chOff x="0" y="0"/>
            <a:chExt cx="9373827" cy="3809668"/>
          </a:xfrm>
        </p:grpSpPr>
        <p:sp>
          <p:nvSpPr>
            <p:cNvPr name="TextBox 9" id="9"/>
            <p:cNvSpPr txBox="true"/>
            <p:nvPr/>
          </p:nvSpPr>
          <p:spPr>
            <a:xfrm rot="0">
              <a:off x="0" y="-57150"/>
              <a:ext cx="8403219" cy="5346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359"/>
                </a:lnSpc>
              </a:pPr>
              <a:r>
                <a:rPr lang="en-US" b="true" sz="2400">
                  <a:solidFill>
                    <a:srgbClr val="344E41"/>
                  </a:solidFill>
                  <a:latin typeface="Raleway Bold"/>
                  <a:ea typeface="Raleway Bold"/>
                  <a:cs typeface="Raleway Bold"/>
                  <a:sym typeface="Raleway Bold"/>
                </a:rPr>
                <a:t>Qualitative (Customer &amp; Brand Outcomes)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0" y="866443"/>
              <a:ext cx="9373827" cy="29432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388620" indent="-194310" lvl="1">
                <a:lnSpc>
                  <a:spcPts val="2520"/>
                </a:lnSpc>
                <a:buFont typeface="Arial"/>
                <a:buChar char="•"/>
              </a:pPr>
              <a:r>
                <a:rPr lang="en-US" sz="1800">
                  <a:solidFill>
                    <a:srgbClr val="344E41"/>
                  </a:solidFill>
                  <a:latin typeface="Raleway"/>
                  <a:ea typeface="Raleway"/>
                  <a:cs typeface="Raleway"/>
                  <a:sym typeface="Raleway"/>
                </a:rPr>
                <a:t>Improved customer experience through empathetic and personalized communication</a:t>
              </a:r>
            </a:p>
            <a:p>
              <a:pPr algn="l" marL="388620" indent="-194310" lvl="1">
                <a:lnSpc>
                  <a:spcPts val="4500"/>
                </a:lnSpc>
                <a:buFont typeface="Arial"/>
                <a:buChar char="•"/>
              </a:pPr>
              <a:r>
                <a:rPr lang="en-US" sz="1800">
                  <a:solidFill>
                    <a:srgbClr val="344E41"/>
                  </a:solidFill>
                  <a:latin typeface="Raleway"/>
                  <a:ea typeface="Raleway"/>
                  <a:cs typeface="Raleway"/>
                  <a:sym typeface="Raleway"/>
                </a:rPr>
                <a:t>Enhanced fairness and trust in the debt recovery process</a:t>
              </a:r>
            </a:p>
            <a:p>
              <a:pPr algn="l" marL="388620" indent="-194310" lvl="1">
                <a:lnSpc>
                  <a:spcPts val="4500"/>
                </a:lnSpc>
                <a:buFont typeface="Arial"/>
                <a:buChar char="•"/>
              </a:pPr>
              <a:r>
                <a:rPr lang="en-US" sz="1800">
                  <a:solidFill>
                    <a:srgbClr val="344E41"/>
                  </a:solidFill>
                  <a:latin typeface="Raleway"/>
                  <a:ea typeface="Raleway"/>
                  <a:cs typeface="Raleway"/>
                  <a:sym typeface="Raleway"/>
                </a:rPr>
                <a:t>Stronger compliance reputation with regulators</a:t>
              </a:r>
            </a:p>
            <a:p>
              <a:pPr algn="l" marL="388620" indent="-194310" lvl="1">
                <a:lnSpc>
                  <a:spcPts val="4500"/>
                </a:lnSpc>
                <a:buFont typeface="Arial"/>
                <a:buChar char="•"/>
              </a:pPr>
              <a:r>
                <a:rPr lang="en-US" sz="1800">
                  <a:solidFill>
                    <a:srgbClr val="344E41"/>
                  </a:solidFill>
                  <a:latin typeface="Raleway"/>
                  <a:ea typeface="Raleway"/>
                  <a:cs typeface="Raleway"/>
                  <a:sym typeface="Raleway"/>
                </a:rPr>
                <a:t>Scalable, future-ready system adaptable to evolving data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>
      <p:bgPr>
        <a:solidFill>
          <a:srgbClr val="DAD7C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258300"/>
            <a:ext cx="18288000" cy="1028700"/>
            <a:chOff x="0" y="0"/>
            <a:chExt cx="12372622" cy="69596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372622" cy="695960"/>
            </a:xfrm>
            <a:custGeom>
              <a:avLst/>
              <a:gdLst/>
              <a:ahLst/>
              <a:cxnLst/>
              <a:rect r="r" b="b" t="t" l="l"/>
              <a:pathLst>
                <a:path h="695960" w="12372622">
                  <a:moveTo>
                    <a:pt x="0" y="0"/>
                  </a:moveTo>
                  <a:lnTo>
                    <a:pt x="12372622" y="0"/>
                  </a:lnTo>
                  <a:lnTo>
                    <a:pt x="12372622" y="695960"/>
                  </a:lnTo>
                  <a:lnTo>
                    <a:pt x="0" y="695960"/>
                  </a:lnTo>
                  <a:close/>
                </a:path>
              </a:pathLst>
            </a:custGeom>
            <a:solidFill>
              <a:srgbClr val="A3B18A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2776554" y="1550657"/>
            <a:ext cx="12734892" cy="1758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5000">
                <a:solidFill>
                  <a:srgbClr val="344E41"/>
                </a:solidFill>
                <a:latin typeface="Raleway"/>
                <a:ea typeface="Raleway"/>
                <a:cs typeface="Raleway"/>
                <a:sym typeface="Raleway"/>
              </a:rPr>
              <a:t>“AN AI SYSTEM THAT DOESN’T JUST COLLECT — IT CONNECTS.”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0" y="4819967"/>
            <a:ext cx="18288000" cy="1180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344E41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3399">
                <a:solidFill>
                  <a:srgbClr val="344E41"/>
                </a:solidFill>
                <a:latin typeface="Canva Sans"/>
                <a:ea typeface="Canva Sans"/>
                <a:cs typeface="Canva Sans"/>
                <a:sym typeface="Canva Sans"/>
              </a:rPr>
              <a:t>By blen</a:t>
            </a:r>
            <a:r>
              <a:rPr lang="en-US" sz="3399">
                <a:solidFill>
                  <a:srgbClr val="344E41"/>
                </a:solidFill>
                <a:latin typeface="Canva Sans"/>
                <a:ea typeface="Canva Sans"/>
                <a:cs typeface="Canva Sans"/>
                <a:sym typeface="Canva Sans"/>
              </a:rPr>
              <a:t>ding automation, compliance and empathy, Geldium’s AI collections system ensures financial responsibility, customer dignity and operational efficiency.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DAG3k6I1Q70</dc:identifier>
  <dcterms:modified xsi:type="dcterms:W3CDTF">2011-08-01T06:04:30Z</dcterms:modified>
  <cp:revision>1</cp:revision>
  <dc:title>AI-Powered Collections Strategy</dc:title>
</cp:coreProperties>
</file>